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10515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EFF3F8"/>
                </a:solidFill>
              </a:defRPr>
            </a:pPr>
            <a:r>
              <a:t>Trustpilot Review</a:t>
            </a:r>
          </a:p>
          <a:p>
            <a:pPr>
              <a:defRPr sz="3400" b="1">
                <a:solidFill>
                  <a:srgbClr val="FF6744"/>
                </a:solidFill>
              </a:defRPr>
            </a:pPr>
            <a:r>
              <a:t>Sentiment Analysis Using Machine Learning</a:t>
            </a:r>
          </a:p>
          <a:p>
            <a:pPr>
              <a:defRPr sz="1800">
                <a:solidFill>
                  <a:srgbClr val="9AA5B5"/>
                </a:solidFill>
              </a:defRPr>
            </a:pPr>
            <a:r>
              <a:t>NLP • TF-IDF • Logistic Regression • Flask • Streamlit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FF3F8"/>
                </a:solidFill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EFF3F8"/>
                </a:solidFill>
              </a:defRPr>
            </a:pPr>
            <a:r>
              <a:t>983 cleaned Trustpilot reviews from six companies.</a:t>
            </a:r>
          </a:p>
          <a:p>
            <a:pPr>
              <a:spcAft>
                <a:spcPts val="1000"/>
              </a:spcAft>
              <a:defRPr sz="1900">
                <a:solidFill>
                  <a:srgbClr val="EFF3F8"/>
                </a:solidFill>
              </a:defRPr>
            </a:pPr>
            <a:r>
              <a:t>Three sentiment classes: Negative, Neutral and Positive.</a:t>
            </a:r>
          </a:p>
          <a:p>
            <a:pPr>
              <a:spcAft>
                <a:spcPts val="1000"/>
              </a:spcAft>
              <a:defRPr sz="1900">
                <a:solidFill>
                  <a:srgbClr val="EFF3F8"/>
                </a:solidFill>
              </a:defRPr>
            </a:pPr>
            <a:r>
              <a:t>TF-IDF created 5,000 text features.</a:t>
            </a:r>
          </a:p>
          <a:p>
            <a:pPr>
              <a:spcAft>
                <a:spcPts val="1000"/>
              </a:spcAft>
              <a:defRPr sz="1900">
                <a:solidFill>
                  <a:srgbClr val="EFF3F8"/>
                </a:solidFill>
              </a:defRPr>
            </a:pPr>
            <a:r>
              <a:t>Six model configurations were evaluated.</a:t>
            </a:r>
          </a:p>
          <a:p>
            <a:pPr>
              <a:spcAft>
                <a:spcPts val="1000"/>
              </a:spcAft>
              <a:defRPr sz="1900">
                <a:solidFill>
                  <a:srgbClr val="EFF3F8"/>
                </a:solidFill>
              </a:defRPr>
            </a:pPr>
            <a:r>
              <a:t>Logistic Regression C=2 produced the best reported result.</a:t>
            </a:r>
          </a:p>
          <a:p>
            <a:pPr>
              <a:spcAft>
                <a:spcPts val="1000"/>
              </a:spcAft>
              <a:defRPr sz="1900">
                <a:solidFill>
                  <a:srgbClr val="EFF3F8"/>
                </a:solidFill>
              </a:defRPr>
            </a:pPr>
            <a:r>
              <a:t>Two interfaces use the same production artifacts: Flask and Streamlit.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FF3F8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EFF3F8"/>
                </a:solidFill>
              </a:defRPr>
            </a:pPr>
            <a:r>
              <a:t>Customer reviews are rich but time-consuming to analyze manually.</a:t>
            </a:r>
          </a:p>
          <a:p>
            <a:pPr>
              <a:spcAft>
                <a:spcPts val="1000"/>
              </a:spcAft>
              <a:defRPr sz="1900">
                <a:solidFill>
                  <a:srgbClr val="EFF3F8"/>
                </a:solidFill>
              </a:defRPr>
            </a:pPr>
            <a:r>
              <a:t>The project automates sentiment classification for review text.</a:t>
            </a:r>
          </a:p>
          <a:p>
            <a:pPr>
              <a:spcAft>
                <a:spcPts val="1000"/>
              </a:spcAft>
              <a:defRPr sz="1900">
                <a:solidFill>
                  <a:srgbClr val="EFF3F8"/>
                </a:solidFill>
              </a:defRPr>
            </a:pPr>
            <a:r>
              <a:t>It also turns the notebook analysis into reusable deployment interfaces.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FF3F8"/>
                </a:solidFill>
              </a:defRPr>
            </a:pPr>
            <a: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EFF3F8"/>
                </a:solidFill>
              </a:defRPr>
            </a:pPr>
            <a:r>
              <a:t>Clean review text and create sentiment labels.</a:t>
            </a:r>
          </a:p>
          <a:p>
            <a:pPr>
              <a:spcAft>
                <a:spcPts val="1000"/>
              </a:spcAft>
              <a:defRPr sz="1900">
                <a:solidFill>
                  <a:srgbClr val="EFF3F8"/>
                </a:solidFill>
              </a:defRPr>
            </a:pPr>
            <a:r>
              <a:t>Explore sentiment, ratings, company volume and review length.</a:t>
            </a:r>
          </a:p>
          <a:p>
            <a:pPr>
              <a:spcAft>
                <a:spcPts val="1000"/>
              </a:spcAft>
              <a:defRPr sz="1900">
                <a:solidFill>
                  <a:srgbClr val="EFF3F8"/>
                </a:solidFill>
              </a:defRPr>
            </a:pPr>
            <a:r>
              <a:t>Extract TF-IDF features and compare classifiers.</a:t>
            </a:r>
          </a:p>
          <a:p>
            <a:pPr>
              <a:spcAft>
                <a:spcPts val="1000"/>
              </a:spcAft>
              <a:defRPr sz="1900">
                <a:solidFill>
                  <a:srgbClr val="EFF3F8"/>
                </a:solidFill>
              </a:defRPr>
            </a:pPr>
            <a:r>
              <a:t>Tune Logistic Regression.</a:t>
            </a:r>
          </a:p>
          <a:p>
            <a:pPr>
              <a:spcAft>
                <a:spcPts val="1000"/>
              </a:spcAft>
              <a:defRPr sz="1900">
                <a:solidFill>
                  <a:srgbClr val="EFF3F8"/>
                </a:solidFill>
              </a:defRPr>
            </a:pPr>
            <a:r>
              <a:t>Deploy one shared prediction pipeline through Flask and Streamlit.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FF3F8"/>
                </a:solidFill>
              </a:defRPr>
            </a:pPr>
            <a:r>
              <a:t>Dataset &amp; Companies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EFF3F8"/>
                </a:solidFill>
              </a:defRPr>
            </a:pPr>
            <a:r>
              <a:t>Original: 984 reviews and 8 original columns.</a:t>
            </a:r>
          </a:p>
          <a:p>
            <a:pPr>
              <a:spcAft>
                <a:spcPts val="1000"/>
              </a:spcAft>
              <a:defRPr sz="1900">
                <a:solidFill>
                  <a:srgbClr val="EFF3F8"/>
                </a:solidFill>
              </a:defRPr>
            </a:pPr>
            <a:r>
              <a:t>Final: 983 reviews and 14 columns.</a:t>
            </a:r>
          </a:p>
          <a:p>
            <a:pPr>
              <a:spcAft>
                <a:spcPts val="1000"/>
              </a:spcAft>
              <a:defRPr sz="1900">
                <a:solidFill>
                  <a:srgbClr val="EFF3F8"/>
                </a:solidFill>
              </a:defRPr>
            </a:pPr>
            <a:r>
              <a:t>Uber Eats — Food Delivery</a:t>
            </a:r>
          </a:p>
          <a:p>
            <a:pPr>
              <a:spcAft>
                <a:spcPts val="1000"/>
              </a:spcAft>
              <a:defRPr sz="1900">
                <a:solidFill>
                  <a:srgbClr val="EFF3F8"/>
                </a:solidFill>
              </a:defRPr>
            </a:pPr>
            <a:r>
              <a:t>Temu — Online Shopping</a:t>
            </a:r>
          </a:p>
          <a:p>
            <a:pPr>
              <a:spcAft>
                <a:spcPts val="1000"/>
              </a:spcAft>
              <a:defRPr sz="1900">
                <a:solidFill>
                  <a:srgbClr val="EFF3F8"/>
                </a:solidFill>
              </a:defRPr>
            </a:pPr>
            <a:r>
              <a:t>Spotify — Streaming Services</a:t>
            </a:r>
          </a:p>
          <a:p>
            <a:pPr>
              <a:spcAft>
                <a:spcPts val="1000"/>
              </a:spcAft>
              <a:defRPr sz="1900">
                <a:solidFill>
                  <a:srgbClr val="EFF3F8"/>
                </a:solidFill>
              </a:defRPr>
            </a:pPr>
            <a:r>
              <a:t>Canva — Software</a:t>
            </a:r>
          </a:p>
          <a:p>
            <a:pPr>
              <a:spcAft>
                <a:spcPts val="1000"/>
              </a:spcAft>
              <a:defRPr sz="1900">
                <a:solidFill>
                  <a:srgbClr val="EFF3F8"/>
                </a:solidFill>
              </a:defRPr>
            </a:pPr>
            <a:r>
              <a:t>Booking.com — Travel</a:t>
            </a:r>
          </a:p>
          <a:p>
            <a:pPr>
              <a:spcAft>
                <a:spcPts val="1000"/>
              </a:spcAft>
              <a:defRPr sz="1900">
                <a:solidFill>
                  <a:srgbClr val="EFF3F8"/>
                </a:solidFill>
              </a:defRPr>
            </a:pPr>
            <a:r>
              <a:t>PayPal — Financial Services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FF3F8"/>
                </a:solidFill>
              </a:defRPr>
            </a:pPr>
            <a:r>
              <a:t>Data Cleaning &amp; 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EFF3F8"/>
                </a:solidFill>
              </a:defRPr>
            </a:pPr>
            <a:r>
              <a:t>Lowercase conversion.</a:t>
            </a:r>
          </a:p>
          <a:p>
            <a:pPr>
              <a:spcAft>
                <a:spcPts val="1000"/>
              </a:spcAft>
              <a:defRPr sz="1900">
                <a:solidFill>
                  <a:srgbClr val="EFF3F8"/>
                </a:solidFill>
              </a:defRPr>
            </a:pPr>
            <a:r>
              <a:t>URL, HTML and email removal.</a:t>
            </a:r>
          </a:p>
          <a:p>
            <a:pPr>
              <a:spcAft>
                <a:spcPts val="1000"/>
              </a:spcAft>
              <a:defRPr sz="1900">
                <a:solidFill>
                  <a:srgbClr val="EFF3F8"/>
                </a:solidFill>
              </a:defRPr>
            </a:pPr>
            <a:r>
              <a:t>Character filtering and whitespace normalization.</a:t>
            </a:r>
          </a:p>
          <a:p>
            <a:pPr>
              <a:spcAft>
                <a:spcPts val="1000"/>
              </a:spcAft>
              <a:defRPr sz="1900">
                <a:solidFill>
                  <a:srgbClr val="EFF3F8"/>
                </a:solidFill>
              </a:defRPr>
            </a:pPr>
            <a:r>
              <a:t>Stopword removal with important negations preserved.</a:t>
            </a:r>
          </a:p>
          <a:p>
            <a:pPr>
              <a:spcAft>
                <a:spcPts val="1000"/>
              </a:spcAft>
              <a:defRPr sz="1900">
                <a:solidFill>
                  <a:srgbClr val="EFF3F8"/>
                </a:solidFill>
              </a:defRPr>
            </a:pPr>
            <a:r>
              <a:t>One empty/problematic cleaned review removed.</a:t>
            </a:r>
          </a:p>
          <a:p>
            <a:pPr>
              <a:spcAft>
                <a:spcPts val="1000"/>
              </a:spcAft>
              <a:defRPr sz="1900">
                <a:solidFill>
                  <a:srgbClr val="EFF3F8"/>
                </a:solidFill>
              </a:defRPr>
            </a:pPr>
            <a:r>
              <a:t>Notebook recorded 184 stopwords.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FF3F8"/>
                </a:solidFill>
              </a:defRPr>
            </a:pPr>
            <a:r>
              <a:t>Sentiment Labeling &amp; Class Balance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EFF3F8"/>
                </a:solidFill>
              </a:defRPr>
            </a:pPr>
            <a:r>
              <a:t>Rating 1–2 → Negative.</a:t>
            </a:r>
          </a:p>
          <a:p>
            <a:pPr>
              <a:spcAft>
                <a:spcPts val="1000"/>
              </a:spcAft>
              <a:defRPr sz="1900">
                <a:solidFill>
                  <a:srgbClr val="EFF3F8"/>
                </a:solidFill>
              </a:defRPr>
            </a:pPr>
            <a:r>
              <a:t>Rating 3 → Neutral.</a:t>
            </a:r>
          </a:p>
          <a:p>
            <a:pPr>
              <a:spcAft>
                <a:spcPts val="1000"/>
              </a:spcAft>
              <a:defRPr sz="1900">
                <a:solidFill>
                  <a:srgbClr val="EFF3F8"/>
                </a:solidFill>
              </a:defRPr>
            </a:pPr>
            <a:r>
              <a:t>Rating 4–5 → Positive.</a:t>
            </a:r>
          </a:p>
          <a:p>
            <a:pPr>
              <a:spcAft>
                <a:spcPts val="1000"/>
              </a:spcAft>
              <a:defRPr sz="1900">
                <a:solidFill>
                  <a:srgbClr val="EFF3F8"/>
                </a:solidFill>
              </a:defRPr>
            </a:pPr>
            <a:r>
              <a:t>Negative: 773 (78.64%).</a:t>
            </a:r>
          </a:p>
          <a:p>
            <a:pPr>
              <a:spcAft>
                <a:spcPts val="1000"/>
              </a:spcAft>
              <a:defRPr sz="1900">
                <a:solidFill>
                  <a:srgbClr val="EFF3F8"/>
                </a:solidFill>
              </a:defRPr>
            </a:pPr>
            <a:r>
              <a:t>Neutral: 24 (2.44%).</a:t>
            </a:r>
          </a:p>
          <a:p>
            <a:pPr>
              <a:spcAft>
                <a:spcPts val="1000"/>
              </a:spcAft>
              <a:defRPr sz="1900">
                <a:solidFill>
                  <a:srgbClr val="EFF3F8"/>
                </a:solidFill>
              </a:defRPr>
            </a:pPr>
            <a:r>
              <a:t>Positive: 186 (18.92%).</a:t>
            </a:r>
          </a:p>
          <a:p>
            <a:pPr>
              <a:spcAft>
                <a:spcPts val="1000"/>
              </a:spcAft>
              <a:defRPr sz="1900">
                <a:solidFill>
                  <a:srgbClr val="EFF3F8"/>
                </a:solidFill>
              </a:defRPr>
            </a:pPr>
            <a:r>
              <a:t>Neutral is the main class-imbalance limitation.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FF3F8"/>
                </a:solidFill>
              </a:defRPr>
            </a:pPr>
            <a:r>
              <a:t>Chart 1 — Overall Sentiment Distribution</a:t>
            </a:r>
          </a:p>
        </p:txBody>
      </p:sp>
      <p:pic>
        <p:nvPicPr>
          <p:cNvPr id="3" name="Picture 2" descr="chart_01_overall_senti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0160"/>
            <a:ext cx="7498079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7532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6744"/>
                </a:solidFill>
              </a:defRPr>
            </a:pPr>
            <a:r>
              <a:t>What it shows</a:t>
            </a:r>
          </a:p>
          <a:p>
            <a:pPr>
              <a:spcAft>
                <a:spcPts val="800"/>
              </a:spcAft>
              <a:defRPr sz="1300">
                <a:solidFill>
                  <a:srgbClr val="EFF3F8"/>
                </a:solidFill>
              </a:defRPr>
            </a:pPr>
            <a:r>
              <a:t>773 Negative, 24 Neutral and 186 Positive reviews.</a:t>
            </a:r>
          </a:p>
          <a:p>
            <a:pPr>
              <a:spcAft>
                <a:spcPts val="800"/>
              </a:spcAft>
              <a:defRPr sz="1300">
                <a:solidFill>
                  <a:srgbClr val="EFF3F8"/>
                </a:solidFill>
              </a:defRPr>
            </a:pPr>
            <a:r>
              <a:t>Negative dominates the collected sample.</a:t>
            </a:r>
          </a:p>
          <a:p>
            <a:pPr>
              <a:spcAft>
                <a:spcPts val="800"/>
              </a:spcAft>
              <a:defRPr sz="1300">
                <a:solidFill>
                  <a:srgbClr val="EFF3F8"/>
                </a:solidFill>
              </a:defRPr>
            </a:pPr>
            <a:r>
              <a:t>Accuracy is influenced by this imbalance.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FF3F8"/>
                </a:solidFill>
              </a:defRPr>
            </a:pPr>
            <a:r>
              <a:t>Chart 2 — Sentiment Distribution by Company</a:t>
            </a:r>
          </a:p>
        </p:txBody>
      </p:sp>
      <p:pic>
        <p:nvPicPr>
          <p:cNvPr id="3" name="Picture 2" descr="chart_02_sentiment_by_compan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0160"/>
            <a:ext cx="7498079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7532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6744"/>
                </a:solidFill>
              </a:defRPr>
            </a:pPr>
            <a:r>
              <a:t>What it shows</a:t>
            </a:r>
          </a:p>
          <a:p>
            <a:pPr>
              <a:spcAft>
                <a:spcPts val="800"/>
              </a:spcAft>
              <a:defRPr sz="1300">
                <a:solidFill>
                  <a:srgbClr val="EFF3F8"/>
                </a:solidFill>
              </a:defRPr>
            </a:pPr>
            <a:r>
              <a:t>Shows absolute sentiment counts per company.</a:t>
            </a:r>
          </a:p>
          <a:p>
            <a:pPr>
              <a:spcAft>
                <a:spcPts val="800"/>
              </a:spcAft>
              <a:defRPr sz="1300">
                <a:solidFill>
                  <a:srgbClr val="EFF3F8"/>
                </a:solidFill>
              </a:defRPr>
            </a:pPr>
            <a:r>
              <a:t>Canva is the positive outlier.</a:t>
            </a:r>
          </a:p>
          <a:p>
            <a:pPr>
              <a:spcAft>
                <a:spcPts val="800"/>
              </a:spcAft>
              <a:defRPr sz="1300">
                <a:solidFill>
                  <a:srgbClr val="EFF3F8"/>
                </a:solidFill>
              </a:defRPr>
            </a:pPr>
            <a:r>
              <a:t>Most other company samples are negative-heavy.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FF3F8"/>
                </a:solidFill>
              </a:defRPr>
            </a:pPr>
            <a:r>
              <a:t>Chart 3 — Sentiment Percentage by Company</a:t>
            </a:r>
          </a:p>
        </p:txBody>
      </p:sp>
      <p:pic>
        <p:nvPicPr>
          <p:cNvPr id="3" name="Picture 2" descr="chart_03_sentiment_percent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0160"/>
            <a:ext cx="7498079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7532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6744"/>
                </a:solidFill>
              </a:defRPr>
            </a:pPr>
            <a:r>
              <a:t>What it shows</a:t>
            </a:r>
          </a:p>
          <a:p>
            <a:pPr>
              <a:spcAft>
                <a:spcPts val="800"/>
              </a:spcAft>
              <a:defRPr sz="1300">
                <a:solidFill>
                  <a:srgbClr val="EFF3F8"/>
                </a:solidFill>
              </a:defRPr>
            </a:pPr>
            <a:r>
              <a:t>Normalizes each company to 100%.</a:t>
            </a:r>
          </a:p>
          <a:p>
            <a:pPr>
              <a:spcAft>
                <a:spcPts val="800"/>
              </a:spcAft>
              <a:defRPr sz="1300">
                <a:solidFill>
                  <a:srgbClr val="EFF3F8"/>
                </a:solidFill>
              </a:defRPr>
            </a:pPr>
            <a:r>
              <a:t>Canva is strongly positive in the collected sample.</a:t>
            </a:r>
          </a:p>
          <a:p>
            <a:pPr>
              <a:spcAft>
                <a:spcPts val="800"/>
              </a:spcAft>
              <a:defRPr sz="1300">
                <a:solidFill>
                  <a:srgbClr val="EFF3F8"/>
                </a:solidFill>
              </a:defRPr>
            </a:pPr>
            <a:r>
              <a:t>This is easier to compare across different sample sizes.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FF3F8"/>
                </a:solidFill>
              </a:defRPr>
            </a:pPr>
            <a:r>
              <a:t>Chart 4 — Average Rating by Company</a:t>
            </a:r>
          </a:p>
        </p:txBody>
      </p:sp>
      <p:pic>
        <p:nvPicPr>
          <p:cNvPr id="3" name="Picture 2" descr="chart_04_average_ra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0160"/>
            <a:ext cx="7498079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7532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6744"/>
                </a:solidFill>
              </a:defRPr>
            </a:pPr>
            <a:r>
              <a:t>What it shows</a:t>
            </a:r>
          </a:p>
          <a:p>
            <a:pPr>
              <a:spcAft>
                <a:spcPts val="800"/>
              </a:spcAft>
              <a:defRPr sz="1300">
                <a:solidFill>
                  <a:srgbClr val="EFF3F8"/>
                </a:solidFill>
              </a:defRPr>
            </a:pPr>
            <a:r>
              <a:t>Compares average 1–5 ratings.</a:t>
            </a:r>
          </a:p>
          <a:p>
            <a:pPr>
              <a:spcAft>
                <a:spcPts val="800"/>
              </a:spcAft>
              <a:defRPr sz="1300">
                <a:solidFill>
                  <a:srgbClr val="EFF3F8"/>
                </a:solidFill>
              </a:defRPr>
            </a:pPr>
            <a:r>
              <a:t>Canva is about 4.09.</a:t>
            </a:r>
          </a:p>
          <a:p>
            <a:pPr>
              <a:spcAft>
                <a:spcPts val="800"/>
              </a:spcAft>
              <a:defRPr sz="1300">
                <a:solidFill>
                  <a:srgbClr val="EFF3F8"/>
                </a:solidFill>
              </a:defRPr>
            </a:pPr>
            <a:r>
              <a:t>Other collected samples are much lower.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FF3F8"/>
                </a:solidFill>
              </a:defRPr>
            </a:pPr>
            <a:r>
              <a:t>Chart 5 — Sentiment Score vs Average Rating</a:t>
            </a:r>
          </a:p>
        </p:txBody>
      </p:sp>
      <p:pic>
        <p:nvPicPr>
          <p:cNvPr id="3" name="Picture 2" descr="chart_05_sentiment_s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0160"/>
            <a:ext cx="7498079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7532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6744"/>
                </a:solidFill>
              </a:defRPr>
            </a:pPr>
            <a:r>
              <a:t>What it shows</a:t>
            </a:r>
          </a:p>
          <a:p>
            <a:pPr>
              <a:spcAft>
                <a:spcPts val="800"/>
              </a:spcAft>
              <a:defRPr sz="1300">
                <a:solidFill>
                  <a:srgbClr val="EFF3F8"/>
                </a:solidFill>
              </a:defRPr>
            </a:pPr>
            <a:r>
              <a:t>Compares average rating and -1/0/+1 sentiment score.</a:t>
            </a:r>
          </a:p>
          <a:p>
            <a:pPr>
              <a:spcAft>
                <a:spcPts val="800"/>
              </a:spcAft>
              <a:defRPr sz="1300">
                <a:solidFill>
                  <a:srgbClr val="EFF3F8"/>
                </a:solidFill>
              </a:defRPr>
            </a:pPr>
            <a:r>
              <a:t>Canva is on the positive side.</a:t>
            </a:r>
          </a:p>
          <a:p>
            <a:pPr>
              <a:spcAft>
                <a:spcPts val="800"/>
              </a:spcAft>
              <a:defRPr sz="1300">
                <a:solidFill>
                  <a:srgbClr val="EFF3F8"/>
                </a:solidFill>
              </a:defRPr>
            </a:pPr>
            <a:r>
              <a:t>Other companies are negative in the collected sample.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FF3F8"/>
                </a:solidFill>
              </a:defRPr>
            </a:pPr>
            <a:r>
              <a:t>Chart 6 — Rating Distribution</a:t>
            </a:r>
          </a:p>
        </p:txBody>
      </p:sp>
      <p:pic>
        <p:nvPicPr>
          <p:cNvPr id="3" name="Picture 2" descr="chart_06_rating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0160"/>
            <a:ext cx="7498079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7532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6744"/>
                </a:solidFill>
              </a:defRPr>
            </a:pPr>
            <a:r>
              <a:t>What it shows</a:t>
            </a:r>
          </a:p>
          <a:p>
            <a:pPr>
              <a:spcAft>
                <a:spcPts val="800"/>
              </a:spcAft>
              <a:defRPr sz="1300">
                <a:solidFill>
                  <a:srgbClr val="EFF3F8"/>
                </a:solidFill>
              </a:defRPr>
            </a:pPr>
            <a:r>
              <a:t>Notebook output: 719 one-star, 54 two-star, 24 three-star, 38 four-star, 148 five-star.</a:t>
            </a:r>
          </a:p>
          <a:p>
            <a:pPr>
              <a:spcAft>
                <a:spcPts val="800"/>
              </a:spcAft>
              <a:defRPr sz="1300">
                <a:solidFill>
                  <a:srgbClr val="EFF3F8"/>
                </a:solidFill>
              </a:defRPr>
            </a:pPr>
            <a:r>
              <a:t>One-star reviews dominate.</a:t>
            </a:r>
          </a:p>
          <a:p>
            <a:pPr>
              <a:spcAft>
                <a:spcPts val="800"/>
              </a:spcAft>
              <a:defRPr sz="1300">
                <a:solidFill>
                  <a:srgbClr val="EFF3F8"/>
                </a:solidFill>
              </a:defRPr>
            </a:pPr>
            <a:r>
              <a:t>This supports the Negative class imbalance.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FF3F8"/>
                </a:solidFill>
              </a:defRPr>
            </a:pPr>
            <a:r>
              <a:t>Chart 7 — Review Count by Company</a:t>
            </a:r>
          </a:p>
        </p:txBody>
      </p:sp>
      <p:pic>
        <p:nvPicPr>
          <p:cNvPr id="3" name="Picture 2" descr="chart_07_review_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0160"/>
            <a:ext cx="7498079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7532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6744"/>
                </a:solidFill>
              </a:defRPr>
            </a:pPr>
            <a:r>
              <a:t>What it shows</a:t>
            </a:r>
          </a:p>
          <a:p>
            <a:pPr>
              <a:spcAft>
                <a:spcPts val="800"/>
              </a:spcAft>
              <a:defRPr sz="1300">
                <a:solidFill>
                  <a:srgbClr val="EFF3F8"/>
                </a:solidFill>
              </a:defRPr>
            </a:pPr>
            <a:r>
              <a:t>Booking.com has 200 reviews and Uber Eats only 20.</a:t>
            </a:r>
          </a:p>
          <a:p>
            <a:pPr>
              <a:spcAft>
                <a:spcPts val="800"/>
              </a:spcAft>
              <a:defRPr sz="1300">
                <a:solidFill>
                  <a:srgbClr val="EFF3F8"/>
                </a:solidFill>
              </a:defRPr>
            </a:pPr>
            <a:r>
              <a:t>The sample sizes are not equal.</a:t>
            </a:r>
          </a:p>
          <a:p>
            <a:pPr>
              <a:spcAft>
                <a:spcPts val="800"/>
              </a:spcAft>
              <a:defRPr sz="1300">
                <a:solidFill>
                  <a:srgbClr val="EFF3F8"/>
                </a:solidFill>
              </a:defRPr>
            </a:pPr>
            <a:r>
              <a:t>Uber Eats conclusions are less reliable.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FF3F8"/>
                </a:solidFill>
              </a:defRPr>
            </a:pPr>
            <a:r>
              <a:t>Chart 8 — Review Length Distribution</a:t>
            </a:r>
          </a:p>
        </p:txBody>
      </p:sp>
      <p:pic>
        <p:nvPicPr>
          <p:cNvPr id="3" name="Picture 2" descr="chart_08_review_leng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0160"/>
            <a:ext cx="7498079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7532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6744"/>
                </a:solidFill>
              </a:defRPr>
            </a:pPr>
            <a:r>
              <a:t>What it shows</a:t>
            </a:r>
          </a:p>
          <a:p>
            <a:pPr>
              <a:spcAft>
                <a:spcPts val="800"/>
              </a:spcAft>
              <a:defRPr sz="1300">
                <a:solidFill>
                  <a:srgbClr val="EFF3F8"/>
                </a:solidFill>
              </a:defRPr>
            </a:pPr>
            <a:r>
              <a:t>Median word count is 32; maximum is 451.</a:t>
            </a:r>
          </a:p>
          <a:p>
            <a:pPr>
              <a:spcAft>
                <a:spcPts val="800"/>
              </a:spcAft>
              <a:defRPr sz="1300">
                <a:solidFill>
                  <a:srgbClr val="EFF3F8"/>
                </a:solidFill>
              </a:defRPr>
            </a:pPr>
            <a:r>
              <a:t>Review lengths vary substantially.</a:t>
            </a:r>
          </a:p>
          <a:p>
            <a:pPr>
              <a:spcAft>
                <a:spcPts val="800"/>
              </a:spcAft>
              <a:defRPr sz="1300">
                <a:solidFill>
                  <a:srgbClr val="EFF3F8"/>
                </a:solidFill>
              </a:defRPr>
            </a:pPr>
            <a:r>
              <a:t>Longer reviews may contain more detailed experiences.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FF3F8"/>
                </a:solidFill>
              </a:defRPr>
            </a:pPr>
            <a:r>
              <a:t>Chart 9 — Top 20 Words</a:t>
            </a:r>
          </a:p>
        </p:txBody>
      </p:sp>
      <p:pic>
        <p:nvPicPr>
          <p:cNvPr id="3" name="Picture 2" descr="chart_09_top_wo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0160"/>
            <a:ext cx="7498079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7532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6744"/>
                </a:solidFill>
              </a:defRPr>
            </a:pPr>
            <a:r>
              <a:t>What it shows</a:t>
            </a:r>
          </a:p>
          <a:p>
            <a:pPr>
              <a:spcAft>
                <a:spcPts val="800"/>
              </a:spcAft>
              <a:defRPr sz="1300">
                <a:solidFill>
                  <a:srgbClr val="EFF3F8"/>
                </a:solidFill>
              </a:defRPr>
            </a:pPr>
            <a:r>
              <a:t>Frequent cleaned words include not, booking, no, paypal, customer and service.</a:t>
            </a:r>
          </a:p>
          <a:p>
            <a:pPr>
              <a:spcAft>
                <a:spcPts val="800"/>
              </a:spcAft>
              <a:defRPr sz="1300">
                <a:solidFill>
                  <a:srgbClr val="EFF3F8"/>
                </a:solidFill>
              </a:defRPr>
            </a:pPr>
            <a:r>
              <a:t>Frequency alone does not imply sentiment.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FF3F8"/>
                </a:solidFill>
              </a:defRPr>
            </a:pPr>
            <a:r>
              <a:t>Chart 10 — Top Positive Words</a:t>
            </a:r>
          </a:p>
        </p:txBody>
      </p:sp>
      <p:pic>
        <p:nvPicPr>
          <p:cNvPr id="3" name="Picture 2" descr="chart_10_positive_wo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0160"/>
            <a:ext cx="7498079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7532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6744"/>
                </a:solidFill>
              </a:defRPr>
            </a:pPr>
            <a:r>
              <a:t>What it shows</a:t>
            </a:r>
          </a:p>
          <a:p>
            <a:pPr>
              <a:spcAft>
                <a:spcPts val="800"/>
              </a:spcAft>
              <a:defRPr sz="1300">
                <a:solidFill>
                  <a:srgbClr val="EFF3F8"/>
                </a:solidFill>
              </a:defRPr>
            </a:pPr>
            <a:r>
              <a:t>Positive-review frequencies begin with canva, use, great and easy.</a:t>
            </a:r>
          </a:p>
          <a:p>
            <a:pPr>
              <a:spcAft>
                <a:spcPts val="800"/>
              </a:spcAft>
              <a:defRPr sz="1300">
                <a:solidFill>
                  <a:srgbClr val="EFF3F8"/>
                </a:solidFill>
              </a:defRPr>
            </a:pPr>
            <a:r>
              <a:t>Words may still occur in mixed contexts.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FF3F8"/>
                </a:solidFill>
              </a:defRPr>
            </a:pPr>
            <a:r>
              <a:t>Chart 11 — Top Negative Words</a:t>
            </a:r>
          </a:p>
        </p:txBody>
      </p:sp>
      <p:pic>
        <p:nvPicPr>
          <p:cNvPr id="3" name="Picture 2" descr="chart_11_negative_wo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0160"/>
            <a:ext cx="7498079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7532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6744"/>
                </a:solidFill>
              </a:defRPr>
            </a:pPr>
            <a:r>
              <a:t>What it shows</a:t>
            </a:r>
          </a:p>
          <a:p>
            <a:pPr>
              <a:spcAft>
                <a:spcPts val="800"/>
              </a:spcAft>
              <a:defRPr sz="1300">
                <a:solidFill>
                  <a:srgbClr val="EFF3F8"/>
                </a:solidFill>
              </a:defRPr>
            </a:pPr>
            <a:r>
              <a:t>Negative-review frequencies begin with not, booking, no, paypal and customer.</a:t>
            </a:r>
          </a:p>
          <a:p>
            <a:pPr>
              <a:spcAft>
                <a:spcPts val="800"/>
              </a:spcAft>
              <a:defRPr sz="1300">
                <a:solidFill>
                  <a:srgbClr val="EFF3F8"/>
                </a:solidFill>
              </a:defRPr>
            </a:pPr>
            <a:r>
              <a:t>Complaint vocabulary is visible.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FF3F8"/>
                </a:solidFill>
              </a:defRPr>
            </a:pPr>
            <a:r>
              <a:t>Chart 12 — Model Comparison</a:t>
            </a:r>
          </a:p>
        </p:txBody>
      </p:sp>
      <p:pic>
        <p:nvPicPr>
          <p:cNvPr id="3" name="Picture 2" descr="chart_12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0160"/>
            <a:ext cx="7498079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7532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6744"/>
                </a:solidFill>
              </a:defRPr>
            </a:pPr>
            <a:r>
              <a:t>What it shows</a:t>
            </a:r>
          </a:p>
          <a:p>
            <a:pPr>
              <a:spcAft>
                <a:spcPts val="800"/>
              </a:spcAft>
              <a:defRPr sz="1300">
                <a:solidFill>
                  <a:srgbClr val="EFF3F8"/>
                </a:solidFill>
              </a:defRPr>
            </a:pPr>
            <a:r>
              <a:t>Compares Accuracy and Macro F1.</a:t>
            </a:r>
          </a:p>
          <a:p>
            <a:pPr>
              <a:spcAft>
                <a:spcPts val="800"/>
              </a:spcAft>
              <a:defRPr sz="1300">
                <a:solidFill>
                  <a:srgbClr val="EFF3F8"/>
                </a:solidFill>
              </a:defRPr>
            </a:pPr>
            <a:r>
              <a:t>Logistic Regression C=2 is best on both supplied metrics.</a:t>
            </a:r>
          </a:p>
          <a:p>
            <a:pPr>
              <a:spcAft>
                <a:spcPts val="800"/>
              </a:spcAft>
              <a:defRPr sz="1300">
                <a:solidFill>
                  <a:srgbClr val="EFF3F8"/>
                </a:solidFill>
              </a:defRPr>
            </a:pPr>
            <a:r>
              <a:t>Macro F1 is important because of class imbalance.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FF3F8"/>
                </a:solidFill>
              </a:defRPr>
            </a:pPr>
            <a:r>
              <a:t>TF-IDF Feature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EFF3F8"/>
                </a:solidFill>
              </a:defRPr>
            </a:pPr>
            <a:r>
              <a:t>max_features = 5000.</a:t>
            </a:r>
          </a:p>
          <a:p>
            <a:pPr>
              <a:spcAft>
                <a:spcPts val="1000"/>
              </a:spcAft>
              <a:defRPr sz="1900">
                <a:solidFill>
                  <a:srgbClr val="EFF3F8"/>
                </a:solidFill>
              </a:defRPr>
            </a:pPr>
            <a:r>
              <a:t>ngram_range = (1, 2).</a:t>
            </a:r>
          </a:p>
          <a:p>
            <a:pPr>
              <a:spcAft>
                <a:spcPts val="1000"/>
              </a:spcAft>
              <a:defRPr sz="1900">
                <a:solidFill>
                  <a:srgbClr val="EFF3F8"/>
                </a:solidFill>
              </a:defRPr>
            </a:pPr>
            <a:r>
              <a:t>min_df = 2; max_df = 0.95.</a:t>
            </a:r>
          </a:p>
          <a:p>
            <a:pPr>
              <a:spcAft>
                <a:spcPts val="1000"/>
              </a:spcAft>
              <a:defRPr sz="1900">
                <a:solidFill>
                  <a:srgbClr val="EFF3F8"/>
                </a:solidFill>
              </a:defRPr>
            </a:pPr>
            <a:r>
              <a:t>sublinear_tf = True.</a:t>
            </a:r>
          </a:p>
          <a:p>
            <a:pPr>
              <a:spcAft>
                <a:spcPts val="1000"/>
              </a:spcAft>
              <a:defRPr sz="1900">
                <a:solidFill>
                  <a:srgbClr val="EFF3F8"/>
                </a:solidFill>
              </a:defRPr>
            </a:pPr>
            <a:r>
              <a:t>Final matrix: X = (983, 5000).</a:t>
            </a:r>
          </a:p>
          <a:p>
            <a:pPr>
              <a:spcAft>
                <a:spcPts val="1000"/>
              </a:spcAft>
              <a:defRPr sz="1900">
                <a:solidFill>
                  <a:srgbClr val="EFF3F8"/>
                </a:solidFill>
              </a:defRPr>
            </a:pPr>
            <a:r>
              <a:t>The fitted vectorizer must be saved and reused during prediction.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FF3F8"/>
                </a:solidFill>
              </a:defRPr>
            </a:pPr>
            <a:r>
              <a:t>Machine Learning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EFF3F8"/>
                </a:solidFill>
              </a:defRPr>
            </a:pPr>
            <a:r>
              <a:t>Logistic Regression — 90.36% accuracy, Macro F1 0.5732.</a:t>
            </a:r>
          </a:p>
          <a:p>
            <a:pPr>
              <a:spcAft>
                <a:spcPts val="1000"/>
              </a:spcAft>
              <a:defRPr sz="1900">
                <a:solidFill>
                  <a:srgbClr val="EFF3F8"/>
                </a:solidFill>
              </a:defRPr>
            </a:pPr>
            <a:r>
              <a:t>Multinomial Naive Bayes — 82.23%, 0.4056.</a:t>
            </a:r>
          </a:p>
          <a:p>
            <a:pPr>
              <a:spcAft>
                <a:spcPts val="1000"/>
              </a:spcAft>
              <a:defRPr sz="1900">
                <a:solidFill>
                  <a:srgbClr val="EFF3F8"/>
                </a:solidFill>
              </a:defRPr>
            </a:pPr>
            <a:r>
              <a:t>Linear SVM — 89.34%, 0.5534.</a:t>
            </a:r>
          </a:p>
          <a:p>
            <a:pPr>
              <a:spcAft>
                <a:spcPts val="1000"/>
              </a:spcAft>
              <a:defRPr sz="1900">
                <a:solidFill>
                  <a:srgbClr val="EFF3F8"/>
                </a:solidFill>
              </a:defRPr>
            </a:pPr>
            <a:r>
              <a:t>Random Forest — 89.34%, 0.5536.</a:t>
            </a:r>
          </a:p>
          <a:p>
            <a:pPr>
              <a:spcAft>
                <a:spcPts val="1000"/>
              </a:spcAft>
              <a:defRPr sz="1900">
                <a:solidFill>
                  <a:srgbClr val="EFF3F8"/>
                </a:solidFill>
              </a:defRPr>
            </a:pPr>
            <a:r>
              <a:t>Logistic Regression + Oversampling — 90.36%, 0.5699.</a:t>
            </a:r>
          </a:p>
          <a:p>
            <a:pPr>
              <a:spcAft>
                <a:spcPts val="1000"/>
              </a:spcAft>
              <a:defRPr sz="1900">
                <a:solidFill>
                  <a:srgbClr val="EFF3F8"/>
                </a:solidFill>
              </a:defRPr>
            </a:pPr>
            <a:r>
              <a:t>Logistic Regression C=2 — 91.37%, 0.5845.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FF3F8"/>
                </a:solidFill>
              </a:defRPr>
            </a:pPr>
            <a:r>
              <a:t>Hyperparameter 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EFF3F8"/>
                </a:solidFill>
              </a:defRPr>
            </a:pPr>
            <a:r>
              <a:t>C values tested: 0.01, 0.10, 0.50, 1, 2, 5 and 10.</a:t>
            </a:r>
          </a:p>
          <a:p>
            <a:pPr>
              <a:spcAft>
                <a:spcPts val="1000"/>
              </a:spcAft>
              <a:defRPr sz="1900">
                <a:solidFill>
                  <a:srgbClr val="EFF3F8"/>
                </a:solidFill>
              </a:defRPr>
            </a:pPr>
            <a:r>
              <a:t>C=2 produced the highest Accuracy: 0.913706.</a:t>
            </a:r>
          </a:p>
          <a:p>
            <a:pPr>
              <a:spcAft>
                <a:spcPts val="1000"/>
              </a:spcAft>
              <a:defRPr sz="1900">
                <a:solidFill>
                  <a:srgbClr val="EFF3F8"/>
                </a:solidFill>
              </a:defRPr>
            </a:pPr>
            <a:r>
              <a:t>C=2 produced the highest Macro F1: 0.584520.</a:t>
            </a:r>
          </a:p>
          <a:p>
            <a:pPr>
              <a:spcAft>
                <a:spcPts val="1000"/>
              </a:spcAft>
              <a:defRPr sz="1900">
                <a:solidFill>
                  <a:srgbClr val="EFF3F8"/>
                </a:solidFill>
              </a:defRPr>
            </a:pPr>
            <a:r>
              <a:t>Final production model: Logistic Regression with C=2.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FF3F8"/>
                </a:solidFill>
              </a:defRPr>
            </a:pPr>
            <a:r>
              <a:t>Final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EFF3F8"/>
                </a:solidFill>
              </a:defRPr>
            </a:pPr>
            <a:r>
              <a:t>Logistic Regression</a:t>
            </a:r>
          </a:p>
          <a:p>
            <a:pPr>
              <a:spcAft>
                <a:spcPts val="1000"/>
              </a:spcAft>
              <a:defRPr sz="1900">
                <a:solidFill>
                  <a:srgbClr val="EFF3F8"/>
                </a:solidFill>
              </a:defRPr>
            </a:pPr>
            <a:r>
              <a:t>C = 2.0</a:t>
            </a:r>
          </a:p>
          <a:p>
            <a:pPr>
              <a:spcAft>
                <a:spcPts val="1000"/>
              </a:spcAft>
              <a:defRPr sz="1900">
                <a:solidFill>
                  <a:srgbClr val="EFF3F8"/>
                </a:solidFill>
              </a:defRPr>
            </a:pPr>
            <a:r>
              <a:t>Accuracy = 91.37%</a:t>
            </a:r>
          </a:p>
          <a:p>
            <a:pPr>
              <a:spcAft>
                <a:spcPts val="1000"/>
              </a:spcAft>
              <a:defRPr sz="1900">
                <a:solidFill>
                  <a:srgbClr val="EFF3F8"/>
                </a:solidFill>
              </a:defRPr>
            </a:pPr>
            <a:r>
              <a:t>Macro F1 = 0.5845</a:t>
            </a:r>
          </a:p>
          <a:p>
            <a:pPr>
              <a:spcAft>
                <a:spcPts val="1000"/>
              </a:spcAft>
              <a:defRPr sz="1900">
                <a:solidFill>
                  <a:srgbClr val="EFF3F8"/>
                </a:solidFill>
              </a:defRPr>
            </a:pPr>
            <a:r>
              <a:t>Negative F1 = 0.95</a:t>
            </a:r>
          </a:p>
          <a:p>
            <a:pPr>
              <a:spcAft>
                <a:spcPts val="1000"/>
              </a:spcAft>
              <a:defRPr sz="1900">
                <a:solidFill>
                  <a:srgbClr val="EFF3F8"/>
                </a:solidFill>
              </a:defRPr>
            </a:pPr>
            <a:r>
              <a:t>Neutral F1 = 0.00</a:t>
            </a:r>
          </a:p>
          <a:p>
            <a:pPr>
              <a:spcAft>
                <a:spcPts val="1000"/>
              </a:spcAft>
              <a:defRPr sz="1900">
                <a:solidFill>
                  <a:srgbClr val="EFF3F8"/>
                </a:solidFill>
              </a:defRPr>
            </a:pPr>
            <a:r>
              <a:t>Positive F1 = 0.80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FF3F8"/>
                </a:solidFill>
              </a:defRPr>
            </a:pPr>
            <a:r>
              <a:t>Confusion Matrix &amp;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EFF3F8"/>
                </a:solidFill>
              </a:defRPr>
            </a:pPr>
            <a:r>
              <a:t>[[154,0,1],[4,0,1],[10,1,26]]</a:t>
            </a:r>
          </a:p>
          <a:p>
            <a:pPr>
              <a:spcAft>
                <a:spcPts val="1000"/>
              </a:spcAft>
              <a:defRPr sz="1900">
                <a:solidFill>
                  <a:srgbClr val="EFF3F8"/>
                </a:solidFill>
              </a:defRPr>
            </a:pPr>
            <a:r>
              <a:t>Most Negative reviews are correctly classified.</a:t>
            </a:r>
          </a:p>
          <a:p>
            <a:pPr>
              <a:spcAft>
                <a:spcPts val="1000"/>
              </a:spcAft>
              <a:defRPr sz="1900">
                <a:solidFill>
                  <a:srgbClr val="EFF3F8"/>
                </a:solidFill>
              </a:defRPr>
            </a:pPr>
            <a:r>
              <a:t>Positive recall is 0.70.</a:t>
            </a:r>
          </a:p>
          <a:p>
            <a:pPr>
              <a:spcAft>
                <a:spcPts val="1000"/>
              </a:spcAft>
              <a:defRPr sz="1900">
                <a:solidFill>
                  <a:srgbClr val="EFF3F8"/>
                </a:solidFill>
              </a:defRPr>
            </a:pPr>
            <a:r>
              <a:t>Neutral recall and F1 are 0.00.</a:t>
            </a:r>
          </a:p>
          <a:p>
            <a:pPr>
              <a:spcAft>
                <a:spcPts val="1000"/>
              </a:spcAft>
              <a:defRPr sz="1900">
                <a:solidFill>
                  <a:srgbClr val="EFF3F8"/>
                </a:solidFill>
              </a:defRPr>
            </a:pPr>
            <a:r>
              <a:t>Only 5 Neutral examples are in the test set.</a:t>
            </a:r>
          </a:p>
          <a:p>
            <a:pPr>
              <a:spcAft>
                <a:spcPts val="1000"/>
              </a:spcAft>
              <a:defRPr sz="1900">
                <a:solidFill>
                  <a:srgbClr val="EFF3F8"/>
                </a:solidFill>
              </a:defRPr>
            </a:pPr>
            <a:r>
              <a:t>Do not interpret 91.37% as equal accuracy across all classes.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FF3F8"/>
                </a:solidFill>
              </a:defRPr>
            </a:pPr>
            <a:r>
              <a:t>One ML Pipeline, Two Interfaces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EFF3F8"/>
                </a:solidFill>
              </a:defRPr>
            </a:pPr>
            <a:r>
              <a:t>User Review</a:t>
            </a:r>
          </a:p>
          <a:p>
            <a:pPr>
              <a:spcAft>
                <a:spcPts val="1000"/>
              </a:spcAft>
              <a:defRPr sz="1900">
                <a:solidFill>
                  <a:srgbClr val="EFF3F8"/>
                </a:solidFill>
              </a:defRPr>
            </a:pPr>
            <a:r>
              <a:t>↓ Preprocessing</a:t>
            </a:r>
          </a:p>
          <a:p>
            <a:pPr>
              <a:spcAft>
                <a:spcPts val="1000"/>
              </a:spcAft>
              <a:defRPr sz="1900">
                <a:solidFill>
                  <a:srgbClr val="EFF3F8"/>
                </a:solidFill>
              </a:defRPr>
            </a:pPr>
            <a:r>
              <a:t>↓ Saved TF-IDF Vectorizer</a:t>
            </a:r>
          </a:p>
          <a:p>
            <a:pPr>
              <a:spcAft>
                <a:spcPts val="1000"/>
              </a:spcAft>
              <a:defRPr sz="1900">
                <a:solidFill>
                  <a:srgbClr val="EFF3F8"/>
                </a:solidFill>
              </a:defRPr>
            </a:pPr>
            <a:r>
              <a:t>↓ Logistic Regression C=2</a:t>
            </a:r>
          </a:p>
          <a:p>
            <a:pPr>
              <a:spcAft>
                <a:spcPts val="1000"/>
              </a:spcAft>
              <a:defRPr sz="1900">
                <a:solidFill>
                  <a:srgbClr val="EFF3F8"/>
                </a:solidFill>
              </a:defRPr>
            </a:pPr>
            <a:r>
              <a:t>↓ Sentiment + Probability</a:t>
            </a:r>
          </a:p>
          <a:p>
            <a:pPr>
              <a:spcAft>
                <a:spcPts val="1000"/>
              </a:spcAft>
              <a:defRPr sz="1900">
                <a:solidFill>
                  <a:srgbClr val="EFF3F8"/>
                </a:solidFill>
              </a:defRPr>
            </a:pPr>
            <a:r>
              <a:t>↓ Flask Web App and Streamlit Dashboard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FF3F8"/>
                </a:solidFill>
              </a:defRPr>
            </a:pPr>
            <a:r>
              <a:t>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EFF3F8"/>
                </a:solidFill>
              </a:defRPr>
            </a:pPr>
            <a:r>
              <a:t>KPIs: total reviews, Negative, Positive, Neutral and average rating.</a:t>
            </a:r>
          </a:p>
          <a:p>
            <a:pPr>
              <a:spcAft>
                <a:spcPts val="1000"/>
              </a:spcAft>
              <a:defRPr sz="1900">
                <a:solidFill>
                  <a:srgbClr val="EFF3F8"/>
                </a:solidFill>
              </a:defRPr>
            </a:pPr>
            <a:r>
              <a:t>Company comparison and sentiment score.</a:t>
            </a:r>
          </a:p>
          <a:p>
            <a:pPr>
              <a:spcAft>
                <a:spcPts val="1000"/>
              </a:spcAft>
              <a:defRPr sz="1900">
                <a:solidFill>
                  <a:srgbClr val="EFF3F8"/>
                </a:solidFill>
              </a:defRPr>
            </a:pPr>
            <a:r>
              <a:t>Interactive filters and charts in Streamlit.</a:t>
            </a:r>
          </a:p>
          <a:p>
            <a:pPr>
              <a:spcAft>
                <a:spcPts val="1000"/>
              </a:spcAft>
              <a:defRPr sz="1900">
                <a:solidFill>
                  <a:srgbClr val="EFF3F8"/>
                </a:solidFill>
              </a:defRPr>
            </a:pPr>
            <a:r>
              <a:t>Live prediction with probability when artifacts are present.</a:t>
            </a:r>
          </a:p>
          <a:p>
            <a:pPr>
              <a:spcAft>
                <a:spcPts val="1000"/>
              </a:spcAft>
              <a:defRPr sz="1900">
                <a:solidFill>
                  <a:srgbClr val="EFF3F8"/>
                </a:solidFill>
              </a:defRPr>
            </a:pPr>
            <a:r>
              <a:t>Flask provides a polished prediction page and dashboard.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FF3F8"/>
                </a:solidFill>
              </a:defRPr>
            </a:pPr>
            <a:r>
              <a:t>Business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EFF3F8"/>
                </a:solidFill>
              </a:defRPr>
            </a:pPr>
            <a:r>
              <a:t>Canva: 4.09 average rating; 76.16% Positive in the collected sample.</a:t>
            </a:r>
          </a:p>
          <a:p>
            <a:pPr>
              <a:spcAft>
                <a:spcPts val="1000"/>
              </a:spcAft>
              <a:defRPr sz="1900">
                <a:solidFill>
                  <a:srgbClr val="EFF3F8"/>
                </a:solidFill>
              </a:defRPr>
            </a:pPr>
            <a:r>
              <a:t>Booking.com: 1.16 average rating; 96% Negative in the collected sample.</a:t>
            </a:r>
          </a:p>
          <a:p>
            <a:pPr>
              <a:spcAft>
                <a:spcPts val="1000"/>
              </a:spcAft>
              <a:defRPr sz="1900">
                <a:solidFill>
                  <a:srgbClr val="EFF3F8"/>
                </a:solidFill>
              </a:defRPr>
            </a:pPr>
            <a:r>
              <a:t>PayPal: 1.28 average rating; 93.47% Negative.</a:t>
            </a:r>
          </a:p>
          <a:p>
            <a:pPr>
              <a:spcAft>
                <a:spcPts val="1000"/>
              </a:spcAft>
              <a:defRPr sz="1900">
                <a:solidFill>
                  <a:srgbClr val="EFF3F8"/>
                </a:solidFill>
              </a:defRPr>
            </a:pPr>
            <a:r>
              <a:t>Temu: 1.41 average rating; 89.90% Negative.</a:t>
            </a:r>
          </a:p>
          <a:p>
            <a:pPr>
              <a:spcAft>
                <a:spcPts val="1000"/>
              </a:spcAft>
              <a:defRPr sz="1900">
                <a:solidFill>
                  <a:srgbClr val="EFF3F8"/>
                </a:solidFill>
              </a:defRPr>
            </a:pPr>
            <a:r>
              <a:t>Spotify: 1.54 average rating; 86.08% Negative.</a:t>
            </a:r>
          </a:p>
          <a:p>
            <a:pPr>
              <a:spcAft>
                <a:spcPts val="1000"/>
              </a:spcAft>
              <a:defRPr sz="1900">
                <a:solidFill>
                  <a:srgbClr val="EFF3F8"/>
                </a:solidFill>
              </a:defRPr>
            </a:pPr>
            <a:r>
              <a:t>Uber Eats: 1.15 average rating; 95% Negative, but only 20 reviews.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FF3F8"/>
                </a:solidFill>
              </a:defRPr>
            </a:pPr>
            <a:r>
              <a:t>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EFF3F8"/>
                </a:solidFill>
              </a:defRPr>
            </a:pPr>
            <a:r>
              <a:t>Collected sample is not a complete population.</a:t>
            </a:r>
          </a:p>
          <a:p>
            <a:pPr>
              <a:spcAft>
                <a:spcPts val="1000"/>
              </a:spcAft>
              <a:defRPr sz="1900">
                <a:solidFill>
                  <a:srgbClr val="EFF3F8"/>
                </a:solidFill>
              </a:defRPr>
            </a:pPr>
            <a:r>
              <a:t>Negative class is 78.64%.</a:t>
            </a:r>
          </a:p>
          <a:p>
            <a:pPr>
              <a:spcAft>
                <a:spcPts val="1000"/>
              </a:spcAft>
              <a:defRPr sz="1900">
                <a:solidFill>
                  <a:srgbClr val="EFF3F8"/>
                </a:solidFill>
              </a:defRPr>
            </a:pPr>
            <a:r>
              <a:t>Neutral class is only 2.44%.</a:t>
            </a:r>
          </a:p>
          <a:p>
            <a:pPr>
              <a:spcAft>
                <a:spcPts val="1000"/>
              </a:spcAft>
              <a:defRPr sz="1900">
                <a:solidFill>
                  <a:srgbClr val="EFF3F8"/>
                </a:solidFill>
              </a:defRPr>
            </a:pPr>
            <a:r>
              <a:t>Neutral test recall/F1 are 0.00.</a:t>
            </a:r>
          </a:p>
          <a:p>
            <a:pPr>
              <a:spcAft>
                <a:spcPts val="1000"/>
              </a:spcAft>
              <a:defRPr sz="1900">
                <a:solidFill>
                  <a:srgbClr val="EFF3F8"/>
                </a:solidFill>
              </a:defRPr>
            </a:pPr>
            <a:r>
              <a:t>Uber Eats has only 20 reviews.</a:t>
            </a:r>
          </a:p>
          <a:p>
            <a:pPr>
              <a:spcAft>
                <a:spcPts val="1000"/>
              </a:spcAft>
              <a:defRPr sz="1900">
                <a:solidFill>
                  <a:srgbClr val="EFF3F8"/>
                </a:solidFill>
              </a:defRPr>
            </a:pPr>
            <a:r>
              <a:t>TF-IDF is less context-aware than transformer models.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FF3F8"/>
                </a:solidFill>
              </a:defRPr>
            </a:pPr>
            <a:r>
              <a:t>Future Improvements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EFF3F8"/>
                </a:solidFill>
              </a:defRPr>
            </a:pPr>
            <a:r>
              <a:t>Collect more balanced reviews.</a:t>
            </a:r>
          </a:p>
          <a:p>
            <a:pPr>
              <a:spcAft>
                <a:spcPts val="1000"/>
              </a:spcAft>
              <a:defRPr sz="1900">
                <a:solidFill>
                  <a:srgbClr val="EFF3F8"/>
                </a:solidFill>
              </a:defRPr>
            </a:pPr>
            <a:r>
              <a:t>Improve Neutral coverage and class-aware training.</a:t>
            </a:r>
          </a:p>
          <a:p>
            <a:pPr>
              <a:spcAft>
                <a:spcPts val="1000"/>
              </a:spcAft>
              <a:defRPr sz="1900">
                <a:solidFill>
                  <a:srgbClr val="EFF3F8"/>
                </a:solidFill>
              </a:defRPr>
            </a:pPr>
            <a:r>
              <a:t>Compare transformer models.</a:t>
            </a:r>
          </a:p>
          <a:p>
            <a:pPr>
              <a:spcAft>
                <a:spcPts val="1000"/>
              </a:spcAft>
              <a:defRPr sz="1900">
                <a:solidFill>
                  <a:srgbClr val="EFF3F8"/>
                </a:solidFill>
              </a:defRPr>
            </a:pPr>
            <a:r>
              <a:t>Add multilingual sentiment.</a:t>
            </a:r>
          </a:p>
          <a:p>
            <a:pPr>
              <a:spcAft>
                <a:spcPts val="1000"/>
              </a:spcAft>
              <a:defRPr sz="1900">
                <a:solidFill>
                  <a:srgbClr val="EFF3F8"/>
                </a:solidFill>
              </a:defRPr>
            </a:pPr>
            <a:r>
              <a:t>Add explanation/highlighted phrases.</a:t>
            </a:r>
          </a:p>
          <a:p>
            <a:pPr>
              <a:spcAft>
                <a:spcPts val="1000"/>
              </a:spcAft>
              <a:defRPr sz="1900">
                <a:solidFill>
                  <a:srgbClr val="EFF3F8"/>
                </a:solidFill>
              </a:defRPr>
            </a:pPr>
            <a:r>
              <a:t>Add monitoring, drift detection and automated retraining.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FF3F8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EFF3F8"/>
                </a:solidFill>
              </a:defRPr>
            </a:pPr>
            <a:r>
              <a:t>The project turns a notebook workflow into a deployment-oriented NLP system.</a:t>
            </a:r>
          </a:p>
          <a:p>
            <a:pPr>
              <a:spcAft>
                <a:spcPts val="1000"/>
              </a:spcAft>
              <a:defRPr sz="1900">
                <a:solidFill>
                  <a:srgbClr val="EFF3F8"/>
                </a:solidFill>
              </a:defRPr>
            </a:pPr>
            <a:r>
              <a:t>Logistic Regression C=2 is the best reported configuration.</a:t>
            </a:r>
          </a:p>
          <a:p>
            <a:pPr>
              <a:spcAft>
                <a:spcPts val="1000"/>
              </a:spcAft>
              <a:defRPr sz="1900">
                <a:solidFill>
                  <a:srgbClr val="EFF3F8"/>
                </a:solidFill>
              </a:defRPr>
            </a:pPr>
            <a:r>
              <a:t>Macro F1 and class-level metrics are essential because of imbalance.</a:t>
            </a:r>
          </a:p>
          <a:p>
            <a:pPr>
              <a:spcAft>
                <a:spcPts val="1000"/>
              </a:spcAft>
              <a:defRPr sz="1900">
                <a:solidFill>
                  <a:srgbClr val="EFF3F8"/>
                </a:solidFill>
              </a:defRPr>
            </a:pPr>
            <a:r>
              <a:t>Flask and Streamlit share the same model/vectorizer architecture.</a:t>
            </a:r>
          </a:p>
          <a:p>
            <a:pPr>
              <a:spcAft>
                <a:spcPts val="1000"/>
              </a:spcAft>
              <a:defRPr sz="1900">
                <a:solidFill>
                  <a:srgbClr val="EFF3F8"/>
                </a:solidFill>
              </a:defRPr>
            </a:pPr>
            <a:r>
              <a:t>The package is structured for GitHub and portfolio presentation.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